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6" r:id="rId6"/>
    <p:sldId id="271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349" y="6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0AF71-9DA6-481B-8552-750CF90D458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6CC5D-B4AE-49C6-B9C1-6E9D78531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4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6CC5D-B4AE-49C6-B9C1-6E9D785312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90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D7E65-CA48-4793-BE59-AE6E76A5FAB7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F47D2-3230-40CC-AD08-A2C7C33A2CD5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11CF-E16D-4EC5-A376-B6454140660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EEC48-7C84-4853-A887-BF4B3B3EB505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78B5B-7ACE-441D-B441-60E47F030ED1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E025-62A9-4DD0-ADEA-96806A0266EA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673A-993F-4029-82EA-38AD50D2D2FC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605C-A181-4218-A54A-F4E1EC133A7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09BE9-E018-4280-AC71-2DA77C6EFFC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300-0FA9-4EC6-8051-DEF7FD78F5C9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C008-B2F3-444F-AB56-5BB4D37484CC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72C70-C67A-4D91-94ED-949F37DB59F6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8074" y="1571525"/>
            <a:ext cx="8595852" cy="1470025"/>
          </a:xfrm>
        </p:spPr>
        <p:txBody>
          <a:bodyPr>
            <a:normAutofit fontScale="90000"/>
          </a:bodyPr>
          <a:lstStyle/>
          <a:p>
            <a:r>
              <a:rPr sz="6000" b="1" dirty="0" err="1">
                <a:solidFill>
                  <a:schemeClr val="tx2">
                    <a:lumMod val="75000"/>
                  </a:schemeClr>
                </a:solidFill>
              </a:rPr>
              <a:t>CineConnect</a:t>
            </a:r>
            <a:br>
              <a:rPr lang="en-US" b="1" dirty="0"/>
            </a:br>
            <a:r>
              <a:rPr dirty="0"/>
              <a:t> </a:t>
            </a:r>
            <a:r>
              <a:rPr sz="3600" dirty="0">
                <a:solidFill>
                  <a:schemeClr val="accent5">
                    <a:lumMod val="50000"/>
                  </a:schemeClr>
                </a:solidFill>
              </a:rPr>
              <a:t>A Hybrid Movie Recommendation 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System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86432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Course: </a:t>
            </a:r>
            <a:r>
              <a:rPr dirty="0">
                <a:solidFill>
                  <a:schemeClr val="tx1">
                    <a:lumMod val="50000"/>
                  </a:schemeClr>
                </a:solidFill>
              </a:rPr>
              <a:t>Software Project Lab-1</a:t>
            </a:r>
          </a:p>
          <a:p>
            <a:r>
              <a:rPr dirty="0"/>
              <a:t>Submitted by: </a:t>
            </a:r>
            <a:r>
              <a:rPr dirty="0">
                <a:solidFill>
                  <a:schemeClr val="tx1">
                    <a:lumMod val="50000"/>
                  </a:schemeClr>
                </a:solidFill>
              </a:rPr>
              <a:t>Mithila Paul</a:t>
            </a:r>
          </a:p>
          <a:p>
            <a:r>
              <a:rPr dirty="0"/>
              <a:t>Exam Roll: </a:t>
            </a:r>
            <a:r>
              <a:rPr dirty="0">
                <a:solidFill>
                  <a:schemeClr val="tx1">
                    <a:lumMod val="50000"/>
                  </a:schemeClr>
                </a:solidFill>
              </a:rPr>
              <a:t>245439</a:t>
            </a:r>
          </a:p>
          <a:p>
            <a:r>
              <a:rPr dirty="0"/>
              <a:t>Supervised by: </a:t>
            </a:r>
            <a:r>
              <a:rPr dirty="0">
                <a:solidFill>
                  <a:schemeClr val="tx1">
                    <a:lumMod val="50000"/>
                  </a:schemeClr>
                </a:solidFill>
              </a:rPr>
              <a:t>Professor BM </a:t>
            </a:r>
            <a:r>
              <a:rPr dirty="0" err="1">
                <a:solidFill>
                  <a:schemeClr val="tx1">
                    <a:lumMod val="50000"/>
                  </a:schemeClr>
                </a:solidFill>
              </a:rPr>
              <a:t>Mainul</a:t>
            </a:r>
            <a:r>
              <a:rPr dirty="0">
                <a:solidFill>
                  <a:schemeClr val="tx1">
                    <a:lumMod val="50000"/>
                  </a:schemeClr>
                </a:solidFill>
              </a:rPr>
              <a:t> Hossain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36A12-1DA9-584F-C920-12700C4F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219" y="274638"/>
            <a:ext cx="10972800" cy="1143000"/>
          </a:xfrm>
        </p:spPr>
        <p:txBody>
          <a:bodyPr/>
          <a:lstStyle/>
          <a:p>
            <a:pPr algn="just"/>
            <a:r>
              <a:rPr dirty="0">
                <a:solidFill>
                  <a:schemeClr val="tx2">
                    <a:lumMod val="75000"/>
                  </a:schemeClr>
                </a:solidFill>
              </a:rPr>
              <a:t>Project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2CFAA-D51A-1344-9C89-16FBAA437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183" y="512908"/>
            <a:ext cx="1690085" cy="180945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BA72A2D-B3CB-0C7B-2BF4-D6752D71C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9515"/>
            <a:ext cx="11151181" cy="48066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Dataset Foundation:</a:t>
            </a:r>
          </a:p>
          <a:p>
            <a:r>
              <a:rPr lang="en-US" sz="2400" b="1" dirty="0"/>
              <a:t>	</a:t>
            </a:r>
            <a:r>
              <a:rPr lang="en-US" sz="2800" dirty="0"/>
              <a:t>Built on two master datasets: </a:t>
            </a:r>
          </a:p>
          <a:p>
            <a:pPr lvl="1"/>
            <a:r>
              <a:rPr lang="en-US" sz="2600" dirty="0"/>
              <a:t>Movie dataset with </a:t>
            </a:r>
            <a:r>
              <a:rPr lang="en-US" sz="2600" b="1" dirty="0"/>
              <a:t>4,802 movies and metadata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Ratings dataset with </a:t>
            </a:r>
            <a:r>
              <a:rPr lang="en-US" sz="2600" b="1" dirty="0"/>
              <a:t>~53,000 ratings from 610+ users</a:t>
            </a:r>
            <a:endParaRPr lang="en-US" sz="2600" dirty="0"/>
          </a:p>
          <a:p>
            <a:r>
              <a:rPr lang="en-US" b="1" dirty="0"/>
              <a:t>System Design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/>
              <a:t>Hybrid Recommendation pipeline combining multiple algorithms and 	integrates 	user behavior, content features and relational data.</a:t>
            </a:r>
          </a:p>
          <a:p>
            <a:r>
              <a:rPr lang="en-US" b="1" dirty="0"/>
              <a:t>Core Functionality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</a:t>
            </a:r>
            <a:r>
              <a:rPr lang="en-US" sz="2800" dirty="0"/>
              <a:t>Supports personalized recommendations based on user interaction. Handles 	Cold-start and sparse data scenarios</a:t>
            </a:r>
          </a:p>
          <a:p>
            <a:r>
              <a:rPr lang="en-US" b="1" dirty="0"/>
              <a:t>Processing Pipeline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	</a:t>
            </a:r>
            <a:r>
              <a:rPr lang="en-US" sz="2800" dirty="0"/>
              <a:t>Data preprocessing-&gt; feature extraction -&gt; hybrid scoring -&gt; recommendation</a:t>
            </a:r>
          </a:p>
          <a:p>
            <a:r>
              <a:rPr lang="en-US" b="1" dirty="0"/>
              <a:t>Fast in-memory processing with scalable architecture</a:t>
            </a:r>
            <a:r>
              <a:rPr lang="en-US" dirty="0"/>
              <a:t>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D22DA0B-5837-B04B-2EAA-D0186AEC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509" y="54140"/>
            <a:ext cx="10972800" cy="1143000"/>
          </a:xfrm>
        </p:spPr>
        <p:txBody>
          <a:bodyPr/>
          <a:lstStyle/>
          <a:p>
            <a:pPr algn="just"/>
            <a:r>
              <a:rPr dirty="0">
                <a:solidFill>
                  <a:schemeClr val="tx2">
                    <a:lumMod val="75000"/>
                  </a:schemeClr>
                </a:solidFill>
              </a:rPr>
              <a:t>Key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9B0222-9BF4-DBAE-6AD8-0E58835D5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15009"/>
              </p:ext>
            </p:extLst>
          </p:nvPr>
        </p:nvGraphicFramePr>
        <p:xfrm>
          <a:off x="1" y="1038249"/>
          <a:ext cx="12191999" cy="60350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566725">
                  <a:extLst>
                    <a:ext uri="{9D8B030D-6E8A-4147-A177-3AD203B41FA5}">
                      <a16:colId xmlns:a16="http://schemas.microsoft.com/office/drawing/2014/main" val="1869543473"/>
                    </a:ext>
                  </a:extLst>
                </a:gridCol>
                <a:gridCol w="6625274">
                  <a:extLst>
                    <a:ext uri="{9D8B030D-6E8A-4147-A177-3AD203B41FA5}">
                      <a16:colId xmlns:a16="http://schemas.microsoft.com/office/drawing/2014/main" val="3741720454"/>
                    </a:ext>
                  </a:extLst>
                </a:gridCol>
              </a:tblGrid>
              <a:tr h="1140615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Hybrid Recommendation Engine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Combines Content-based, Collaborative Filtering, Matrix Factorization and Graph Propagation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259633"/>
                  </a:ext>
                </a:extLst>
              </a:tr>
              <a:tr h="78965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Adaptive Scoring System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Dynamically adjusts weights based on user data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592920"/>
                  </a:ext>
                </a:extLst>
              </a:tr>
              <a:tr h="78965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Cold-Start Handling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Genre onboarding + trending fallback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968044"/>
                  </a:ext>
                </a:extLst>
              </a:tr>
              <a:tr h="114061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Search &amp; Input Handling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Supports movie genre, actor, director, and fuzzy search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08517"/>
                  </a:ext>
                </a:extLst>
              </a:tr>
              <a:tr h="78965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Smart Trend-Aware Recommendations 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Uses Bayesian average and popularity scaling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416523"/>
                  </a:ext>
                </a:extLst>
              </a:tr>
              <a:tr h="114061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Interactive User Interface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Enables rating, search, and real-time recommendations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616770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850FB-74AE-A0BE-B484-C7DE2952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A0A8-BA7B-367D-9F6F-D283665D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Algorithms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64B05A4D-7DE3-71CD-F6B5-8E0274F5B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3221620" cy="4525963"/>
          </a:xfrm>
          <a:prstGeom prst="roundRect">
            <a:avLst/>
          </a:prstGeom>
          <a:solidFill>
            <a:srgbClr val="F2F2F2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Recommendation Algorithms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CBF → cosine similarity + TF-IDF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CF → Pearson similarity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MF → SGD + latent vectors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GP → graph propagation</a:t>
            </a:r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A9FBE-B38B-E555-F1DF-E31EE59A9091}"/>
              </a:ext>
            </a:extLst>
          </p:cNvPr>
          <p:cNvCxnSpPr/>
          <p:nvPr/>
        </p:nvCxnSpPr>
        <p:spPr>
          <a:xfrm flipV="1">
            <a:off x="3032567" y="2465408"/>
            <a:ext cx="1446836" cy="57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C017472-BD7A-0D5B-E816-6D258E565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98"/>
          <a:stretch>
            <a:fillRect/>
          </a:stretch>
        </p:blipFill>
        <p:spPr>
          <a:xfrm>
            <a:off x="4500807" y="705573"/>
            <a:ext cx="7525289" cy="377382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6904B7-7414-2D12-8D03-A0EA1E48F7B7}"/>
              </a:ext>
            </a:extLst>
          </p:cNvPr>
          <p:cNvCxnSpPr>
            <a:cxnSpLocks/>
          </p:cNvCxnSpPr>
          <p:nvPr/>
        </p:nvCxnSpPr>
        <p:spPr>
          <a:xfrm flipV="1">
            <a:off x="2569580" y="3646025"/>
            <a:ext cx="1909823" cy="217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9EDAEB0-5EEE-2E2A-1EA5-CDE229C7F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806" y="331415"/>
            <a:ext cx="7574723" cy="582101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AB24C2-A1C0-BC2A-61C3-BA9E2C507C42}"/>
              </a:ext>
            </a:extLst>
          </p:cNvPr>
          <p:cNvCxnSpPr>
            <a:cxnSpLocks/>
          </p:cNvCxnSpPr>
          <p:nvPr/>
        </p:nvCxnSpPr>
        <p:spPr>
          <a:xfrm flipV="1">
            <a:off x="2650603" y="4270459"/>
            <a:ext cx="2002420" cy="265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CE42CD18-79A1-D947-4BAE-A0C8B10F4D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58" t="408" r="-385" b="-408"/>
          <a:stretch>
            <a:fillRect/>
          </a:stretch>
        </p:blipFill>
        <p:spPr>
          <a:xfrm>
            <a:off x="5359220" y="1172182"/>
            <a:ext cx="6161208" cy="4469013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BF673B-F997-1548-209F-209211C76D22}"/>
              </a:ext>
            </a:extLst>
          </p:cNvPr>
          <p:cNvCxnSpPr>
            <a:cxnSpLocks/>
          </p:cNvCxnSpPr>
          <p:nvPr/>
        </p:nvCxnSpPr>
        <p:spPr>
          <a:xfrm flipV="1">
            <a:off x="2743200" y="4942390"/>
            <a:ext cx="1757607" cy="439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196B5960-660B-DDEA-4C53-357F767B43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17" b="2564"/>
          <a:stretch>
            <a:fillRect/>
          </a:stretch>
        </p:blipFill>
        <p:spPr>
          <a:xfrm>
            <a:off x="4769025" y="1016701"/>
            <a:ext cx="6140080" cy="5475799"/>
          </a:xfrm>
          <a:prstGeom prst="rect">
            <a:avLst/>
          </a:prstGeom>
        </p:spPr>
      </p:pic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E59EEEA1-3556-F79D-F950-566E555D9329}"/>
              </a:ext>
            </a:extLst>
          </p:cNvPr>
          <p:cNvSpPr txBox="1">
            <a:spLocks/>
          </p:cNvSpPr>
          <p:nvPr/>
        </p:nvSpPr>
        <p:spPr>
          <a:xfrm>
            <a:off x="4653023" y="1573119"/>
            <a:ext cx="3221620" cy="45259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</a:rPr>
              <a:t>Supporting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TF-IDF → text vectorization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Edit Distance → fuzzy 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tx2">
                    <a:lumMod val="75000"/>
                  </a:schemeClr>
                </a:solidFill>
              </a:rPr>
              <a:t>Jaccard similarity → topic matching</a:t>
            </a: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36B64FA5-73E1-34E4-0613-8D4385394C5A}"/>
              </a:ext>
            </a:extLst>
          </p:cNvPr>
          <p:cNvSpPr txBox="1">
            <a:spLocks/>
          </p:cNvSpPr>
          <p:nvPr/>
        </p:nvSpPr>
        <p:spPr>
          <a:xfrm>
            <a:off x="8622150" y="1593440"/>
            <a:ext cx="3221620" cy="452596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 cap="flat" cmpd="sng" algn="ctr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dirty="0">
                <a:solidFill>
                  <a:schemeClr val="tx1"/>
                </a:solidFill>
              </a:rPr>
              <a:t>Statistical Methods</a:t>
            </a:r>
          </a:p>
          <a:p>
            <a:r>
              <a:rPr lang="en-US" sz="2500" dirty="0">
                <a:solidFill>
                  <a:schemeClr val="tx1"/>
                </a:solidFill>
              </a:rPr>
              <a:t>RMSE → model evaluation </a:t>
            </a:r>
          </a:p>
          <a:p>
            <a:r>
              <a:rPr lang="en-US" sz="2500" dirty="0">
                <a:solidFill>
                  <a:schemeClr val="tx1"/>
                </a:solidFill>
              </a:rPr>
              <a:t>Bayesian Average → fair ratings </a:t>
            </a:r>
          </a:p>
          <a:p>
            <a:r>
              <a:rPr lang="en-US" sz="2500" dirty="0">
                <a:solidFill>
                  <a:schemeClr val="tx1"/>
                </a:solidFill>
              </a:rPr>
              <a:t>Log scaling → popularity</a:t>
            </a:r>
          </a:p>
          <a:p>
            <a:pPr marL="0" indent="0">
              <a:buNone/>
            </a:pPr>
            <a:endParaRPr lang="en-US" sz="2500" dirty="0">
              <a:solidFill>
                <a:schemeClr val="tx1"/>
              </a:solidFill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CB762ED-C3E0-35CB-1C4C-EE05279EE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17664"/>
              </p:ext>
            </p:extLst>
          </p:nvPr>
        </p:nvGraphicFramePr>
        <p:xfrm>
          <a:off x="4200430" y="1593440"/>
          <a:ext cx="7043992" cy="448553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521996">
                  <a:extLst>
                    <a:ext uri="{9D8B030D-6E8A-4147-A177-3AD203B41FA5}">
                      <a16:colId xmlns:a16="http://schemas.microsoft.com/office/drawing/2014/main" val="4291119589"/>
                    </a:ext>
                  </a:extLst>
                </a:gridCol>
                <a:gridCol w="3521996">
                  <a:extLst>
                    <a:ext uri="{9D8B030D-6E8A-4147-A177-3AD203B41FA5}">
                      <a16:colId xmlns:a16="http://schemas.microsoft.com/office/drawing/2014/main" val="1391495535"/>
                    </a:ext>
                  </a:extLst>
                </a:gridCol>
              </a:tblGrid>
              <a:tr h="782757">
                <a:tc>
                  <a:txBody>
                    <a:bodyPr/>
                    <a:lstStyle/>
                    <a:p>
                      <a:r>
                        <a:rPr lang="en-US" dirty="0"/>
                        <a:t>New User / Few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CBF (primary) Query similarity Genre matching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88548"/>
                  </a:ext>
                </a:extLst>
              </a:tr>
              <a:tr h="288384">
                <a:tc>
                  <a:txBody>
                    <a:bodyPr/>
                    <a:lstStyle/>
                    <a:p>
                      <a:r>
                        <a:rPr lang="en-US" b="1" dirty="0"/>
                        <a:t>Moderate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Hybrid (balanced)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963389"/>
                  </a:ext>
                </a:extLst>
              </a:tr>
              <a:tr h="782757">
                <a:tc>
                  <a:txBody>
                    <a:bodyPr/>
                    <a:lstStyle/>
                    <a:p>
                      <a:r>
                        <a:rPr lang="en-US" b="1" dirty="0"/>
                        <a:t>Many Ratings(20+)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collaborative and latent models become more reliable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990571"/>
                  </a:ext>
                </a:extLst>
              </a:tr>
              <a:tr h="1153537">
                <a:tc>
                  <a:txBody>
                    <a:bodyPr/>
                    <a:lstStyle/>
                    <a:p>
                      <a:r>
                        <a:rPr lang="en-US" dirty="0"/>
                        <a:t>user watches niche movies(</a:t>
                      </a:r>
                      <a:r>
                        <a:rPr lang="en-US" b="1" dirty="0"/>
                        <a:t>Cf Fails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MF</a:t>
                      </a:r>
                      <a:r>
                        <a:rPr lang="en-US" dirty="0"/>
                        <a:t> -&gt; learns latent taste </a:t>
                      </a:r>
                      <a:r>
                        <a:rPr lang="en-US" b="0" dirty="0"/>
                        <a:t>GP</a:t>
                      </a:r>
                      <a:r>
                        <a:rPr lang="en-US" dirty="0"/>
                        <a:t> -&gt;indirect connections </a:t>
                      </a:r>
                      <a:r>
                        <a:rPr lang="en-US" b="0" dirty="0"/>
                        <a:t>CBF</a:t>
                      </a:r>
                      <a:r>
                        <a:rPr lang="en-US" dirty="0"/>
                        <a:t> -&gt; content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61312"/>
                  </a:ext>
                </a:extLst>
              </a:tr>
              <a:tr h="1400723">
                <a:tc>
                  <a:txBody>
                    <a:bodyPr/>
                    <a:lstStyle/>
                    <a:p>
                      <a:r>
                        <a:rPr lang="en-US" dirty="0"/>
                        <a:t>User wants something different </a:t>
                      </a:r>
                      <a:r>
                        <a:rPr lang="en-US" b="1" dirty="0"/>
                        <a:t>CBF fails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CF</a:t>
                      </a:r>
                      <a:r>
                        <a:rPr lang="en-US" dirty="0"/>
                        <a:t> -&gt; similar users may suggest Romance </a:t>
                      </a:r>
                      <a:r>
                        <a:rPr lang="en-US" b="0" dirty="0"/>
                        <a:t>MF</a:t>
                      </a:r>
                      <a:r>
                        <a:rPr lang="en-US" dirty="0"/>
                        <a:t> -&gt; latent features capture hidden taste </a:t>
                      </a:r>
                      <a:r>
                        <a:rPr lang="en-US" b="0" dirty="0"/>
                        <a:t>GP</a:t>
                      </a:r>
                      <a:r>
                        <a:rPr lang="en-US" dirty="0"/>
                        <a:t> -&gt; indirect discovery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30741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C35FD044-BBDB-E2A4-FAA9-C965628D6255}"/>
              </a:ext>
            </a:extLst>
          </p:cNvPr>
          <p:cNvSpPr txBox="1"/>
          <p:nvPr/>
        </p:nvSpPr>
        <p:spPr>
          <a:xfrm>
            <a:off x="7315200" y="951888"/>
            <a:ext cx="1645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WHY</a:t>
            </a:r>
            <a:r>
              <a:rPr lang="en-US" sz="3200" dirty="0"/>
              <a:t>?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6388F79-CFFC-90C4-A303-8460A25A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7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allAtOnce" animBg="1"/>
      <p:bldP spid="29" grpId="0" animBg="1"/>
      <p:bldP spid="35" grpId="0"/>
      <p:bldP spid="3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C740-400D-92FC-3D14-1D3C0C530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99" y="-98885"/>
            <a:ext cx="10132239" cy="184081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Architecture 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A8434C-7DCF-4787-0003-D53D537B59EA}"/>
              </a:ext>
            </a:extLst>
          </p:cNvPr>
          <p:cNvSpPr/>
          <p:nvPr/>
        </p:nvSpPr>
        <p:spPr>
          <a:xfrm>
            <a:off x="335399" y="1982696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User Input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8EED06-2435-40F7-4237-5F019A5BCFF5}"/>
              </a:ext>
            </a:extLst>
          </p:cNvPr>
          <p:cNvSpPr/>
          <p:nvPr/>
        </p:nvSpPr>
        <p:spPr>
          <a:xfrm>
            <a:off x="1724362" y="4343973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Ranking &amp;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Top Recommendations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FE4EB0-D7F5-910F-7BBE-F993F504C7EB}"/>
              </a:ext>
            </a:extLst>
          </p:cNvPr>
          <p:cNvSpPr/>
          <p:nvPr/>
        </p:nvSpPr>
        <p:spPr>
          <a:xfrm>
            <a:off x="4926691" y="4343973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Hybrid Scoring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8A3E7E-8399-9626-6BA6-D4C0DA18FFA3}"/>
              </a:ext>
            </a:extLst>
          </p:cNvPr>
          <p:cNvSpPr/>
          <p:nvPr/>
        </p:nvSpPr>
        <p:spPr>
          <a:xfrm>
            <a:off x="8129020" y="4343973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>
                <a:solidFill>
                  <a:schemeClr val="tx1"/>
                </a:solidFill>
              </a:rPr>
              <a:t>Recommendation Models</a:t>
            </a:r>
            <a:br>
              <a:rPr lang="fr-FR" sz="2000">
                <a:solidFill>
                  <a:schemeClr val="tx1"/>
                </a:solidFill>
              </a:rPr>
            </a:br>
            <a:r>
              <a:rPr lang="fr-FR" sz="2000">
                <a:solidFill>
                  <a:schemeClr val="tx1"/>
                </a:solidFill>
              </a:rPr>
              <a:t>(CBF | CF | MF | GP)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BE9689-D8A5-8016-D63D-AF6AC7AF067C}"/>
              </a:ext>
            </a:extLst>
          </p:cNvPr>
          <p:cNvSpPr/>
          <p:nvPr/>
        </p:nvSpPr>
        <p:spPr>
          <a:xfrm>
            <a:off x="3395938" y="1876242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Search Type Selection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(Genre / Actor / Plot / Query)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45FDD3-0C3F-D0AF-A36A-397FD1970E3C}"/>
              </a:ext>
            </a:extLst>
          </p:cNvPr>
          <p:cNvSpPr/>
          <p:nvPr/>
        </p:nvSpPr>
        <p:spPr>
          <a:xfrm>
            <a:off x="6388210" y="1863220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Candidate Filtering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E0F2EF-25DB-0BA1-6A4D-91BEBC5AF077}"/>
              </a:ext>
            </a:extLst>
          </p:cNvPr>
          <p:cNvSpPr/>
          <p:nvPr/>
        </p:nvSpPr>
        <p:spPr>
          <a:xfrm>
            <a:off x="9380482" y="1831087"/>
            <a:ext cx="2338618" cy="1887416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Feature Processing</a:t>
            </a:r>
            <a:br>
              <a:rPr lang="en-US" sz="2000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(TF-IDF / Tokens / Topics)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E0EF53F-3C7E-63FB-7ECB-EE8EA56B1182}"/>
              </a:ext>
            </a:extLst>
          </p:cNvPr>
          <p:cNvSpPr/>
          <p:nvPr/>
        </p:nvSpPr>
        <p:spPr>
          <a:xfrm>
            <a:off x="2674017" y="2739822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7412030-DE6A-BBAC-BC88-58D18797FB5F}"/>
              </a:ext>
            </a:extLst>
          </p:cNvPr>
          <p:cNvSpPr/>
          <p:nvPr/>
        </p:nvSpPr>
        <p:spPr>
          <a:xfrm rot="10800000">
            <a:off x="4133874" y="5085979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A640120-92E5-A4A7-D1D9-A1998FADB61A}"/>
              </a:ext>
            </a:extLst>
          </p:cNvPr>
          <p:cNvSpPr/>
          <p:nvPr/>
        </p:nvSpPr>
        <p:spPr>
          <a:xfrm rot="10800000">
            <a:off x="7336203" y="5145490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227847B-4C55-FC29-1406-D7D002358ECF}"/>
              </a:ext>
            </a:extLst>
          </p:cNvPr>
          <p:cNvSpPr/>
          <p:nvPr/>
        </p:nvSpPr>
        <p:spPr>
          <a:xfrm rot="8537520">
            <a:off x="9308501" y="3891347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84FF916-2E8F-2D2B-31DE-010623A4D2D9}"/>
              </a:ext>
            </a:extLst>
          </p:cNvPr>
          <p:cNvSpPr/>
          <p:nvPr/>
        </p:nvSpPr>
        <p:spPr>
          <a:xfrm>
            <a:off x="8692695" y="2723935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4936401-1CE0-4BCD-2047-98966961798A}"/>
              </a:ext>
            </a:extLst>
          </p:cNvPr>
          <p:cNvSpPr/>
          <p:nvPr/>
        </p:nvSpPr>
        <p:spPr>
          <a:xfrm>
            <a:off x="5737774" y="2763167"/>
            <a:ext cx="721921" cy="279783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CD073F3-E7A5-1704-AE07-030246C2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7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6151-404A-577F-3140-D77D84AF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Demo Output (by plot/keywords)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9B4515-10CE-61D2-B44F-5874B6F7D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2796"/>
            <a:ext cx="12192000" cy="373224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176D83-3AC6-F12A-655C-C77C4541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7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2DE0-0C5A-DCB2-B124-40AC3098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Intelligent Recommendation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7D461-7224-25E9-CCE3-57387756D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16" y="1257936"/>
            <a:ext cx="5386917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Cold Start Onboarding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0F747-34F0-FFB2-C9DE-1B494B940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0734" y="1273178"/>
            <a:ext cx="5389033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Trending Statistics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39C152B6-3CA7-B74D-6F34-9F1C94FD486A}"/>
              </a:ext>
            </a:extLst>
          </p:cNvPr>
          <p:cNvSpPr/>
          <p:nvPr/>
        </p:nvSpPr>
        <p:spPr>
          <a:xfrm>
            <a:off x="1506302" y="2331720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New User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↓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No History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690FF5F4-C4CB-ACCC-4674-304045883859}"/>
              </a:ext>
            </a:extLst>
          </p:cNvPr>
          <p:cNvSpPr/>
          <p:nvPr/>
        </p:nvSpPr>
        <p:spPr>
          <a:xfrm>
            <a:off x="7091128" y="5165726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Trending Score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↓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Top Movies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05CF79DD-1AC8-7B13-E979-EA137E76A6AE}"/>
              </a:ext>
            </a:extLst>
          </p:cNvPr>
          <p:cNvSpPr/>
          <p:nvPr/>
        </p:nvSpPr>
        <p:spPr>
          <a:xfrm>
            <a:off x="7091128" y="3720306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Bayesian Avg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↓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Log Scaling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F102E561-2D2B-BE7A-00E0-32231EEF5F6B}"/>
              </a:ext>
            </a:extLst>
          </p:cNvPr>
          <p:cNvSpPr/>
          <p:nvPr/>
        </p:nvSpPr>
        <p:spPr>
          <a:xfrm>
            <a:off x="7091128" y="2270760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All Ratings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↓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Avg Rating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336FE98-815D-A086-D396-1CE61E27AB28}"/>
              </a:ext>
            </a:extLst>
          </p:cNvPr>
          <p:cNvSpPr/>
          <p:nvPr/>
        </p:nvSpPr>
        <p:spPr>
          <a:xfrm>
            <a:off x="1506302" y="3748723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Genre Selection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↓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Seed Ratings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F6C7BB72-B1DB-FAFC-F4CD-79D02EE842D7}"/>
              </a:ext>
            </a:extLst>
          </p:cNvPr>
          <p:cNvSpPr/>
          <p:nvPr/>
        </p:nvSpPr>
        <p:spPr>
          <a:xfrm>
            <a:off x="1506302" y="5165726"/>
            <a:ext cx="3593513" cy="1188720"/>
          </a:xfrm>
          <a:prstGeom prst="flowChartAlternateProcess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User Profile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↓</a:t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Hybrid System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ABCB07-B33B-6AE4-DCD5-AFDF3628C0F8}"/>
              </a:ext>
            </a:extLst>
          </p:cNvPr>
          <p:cNvCxnSpPr>
            <a:stCxn id="3" idx="2"/>
            <a:endCxn id="8" idx="0"/>
          </p:cNvCxnSpPr>
          <p:nvPr/>
        </p:nvCxnSpPr>
        <p:spPr>
          <a:xfrm flipH="1">
            <a:off x="3303059" y="1897698"/>
            <a:ext cx="2116" cy="4340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359E42-B0B1-265A-F092-19B5BFA4E32D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8887885" y="3459480"/>
            <a:ext cx="0" cy="260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1C5469-5AF7-CD0C-C4C7-FE697E628EBF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303059" y="4937443"/>
            <a:ext cx="0" cy="228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338832-91B1-3EDC-E919-75121D80133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303059" y="3520440"/>
            <a:ext cx="905" cy="327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3AC902-674A-ABFB-ADE5-0A2D55BDC07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886827" y="1929136"/>
            <a:ext cx="1058" cy="341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452A26-E6F9-777F-596F-D60B284A9231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887885" y="4909026"/>
            <a:ext cx="0" cy="25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FDE6043A-593F-3F8F-7B41-08FEB2FBF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39" b="19277"/>
          <a:stretch>
            <a:fillRect/>
          </a:stretch>
        </p:blipFill>
        <p:spPr>
          <a:xfrm rot="21435003">
            <a:off x="5237950" y="3720306"/>
            <a:ext cx="1795852" cy="905183"/>
          </a:xfrm>
          <a:prstGeom prst="rect">
            <a:avLst/>
          </a:prstGeom>
        </p:spPr>
      </p:pic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8A0E9005-7231-85B8-4E25-174E7DC8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6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ABF2-209B-164E-2623-750EA90F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68BC-AF52-BE61-9058-BEA0DE0FD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Web/Mobile Interface </a:t>
            </a:r>
            <a:r>
              <a:rPr lang="en-US" dirty="0"/>
              <a:t>(Convert console system into a full UI-based application)</a:t>
            </a:r>
          </a:p>
          <a:p>
            <a:pPr algn="just"/>
            <a:r>
              <a:rPr lang="en-US" b="1" dirty="0"/>
              <a:t>Deep Learning Models </a:t>
            </a:r>
            <a:r>
              <a:rPr lang="en-US" dirty="0"/>
              <a:t>(Use neural networks for better personalization)</a:t>
            </a:r>
          </a:p>
          <a:p>
            <a:pPr algn="just"/>
            <a:r>
              <a:rPr lang="en-US" b="1" dirty="0"/>
              <a:t>Real-Time Updates </a:t>
            </a:r>
            <a:r>
              <a:rPr lang="en-US" dirty="0"/>
              <a:t>(Continuously update recommendations with new rating)</a:t>
            </a:r>
          </a:p>
          <a:p>
            <a:pPr algn="just"/>
            <a:r>
              <a:rPr lang="en-US" b="1" dirty="0"/>
              <a:t>Larger &amp; Dynamic Datasets </a:t>
            </a:r>
            <a:r>
              <a:rPr lang="en-US" dirty="0"/>
              <a:t>(Integrate live movie databases (APIs))</a:t>
            </a:r>
          </a:p>
          <a:p>
            <a:pPr algn="just"/>
            <a:r>
              <a:rPr lang="en-US" b="1" dirty="0"/>
              <a:t>Social &amp; Context Features </a:t>
            </a:r>
            <a:r>
              <a:rPr lang="en-US" dirty="0"/>
              <a:t>(Include mood, time, and user interactions)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548550-6643-5ED8-50A6-5C9B751E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356" y="274638"/>
            <a:ext cx="2044143" cy="141763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AA27BE-2B2C-273F-154B-72A6C5E4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9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5A43-D9FE-7E7B-74FC-5D52D23C0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273A3-19E2-65E7-6114-1F187DA67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recommend watching more movies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73120-6A48-3777-DAE8-A769606C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26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512</Words>
  <Application>Microsoft Office PowerPoint</Application>
  <PresentationFormat>Widescreen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CineConnect  A Hybrid Movie Recommendation System</vt:lpstr>
      <vt:lpstr>Project Overview</vt:lpstr>
      <vt:lpstr>Key Features</vt:lpstr>
      <vt:lpstr>Algorithms</vt:lpstr>
      <vt:lpstr>Architecture Flow</vt:lpstr>
      <vt:lpstr>Demo Output (by plot/keywords)</vt:lpstr>
      <vt:lpstr>Intelligent Recommendation Features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Asus</cp:lastModifiedBy>
  <cp:revision>5</cp:revision>
  <dcterms:created xsi:type="dcterms:W3CDTF">2013-01-27T09:14:16Z</dcterms:created>
  <dcterms:modified xsi:type="dcterms:W3CDTF">2026-04-23T04:30:59Z</dcterms:modified>
  <cp:category/>
</cp:coreProperties>
</file>